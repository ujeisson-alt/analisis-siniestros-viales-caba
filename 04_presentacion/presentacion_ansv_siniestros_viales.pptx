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872000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D9C4"/>
                </a:solidFill>
                <a:latin typeface="Arial"/>
              </a:rPr>
              <a:t>INFORME ESTADÍSTICO · SEGURIDAD VIAL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268000"/>
            <a:ext cx="972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Siniestros viales en la</a:t>
            </a:r>
          </a:p>
          <a:p>
            <a:pPr algn="l"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Ciudad de Buenos 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816000"/>
            <a:ext cx="93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E8DC"/>
                </a:solidFill>
                <a:latin typeface="Arial"/>
              </a:rPr>
              <a:t>Análisis estadístico descriptivo 2019–2025 · 65.818 siniestros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4464000"/>
            <a:ext cx="2160000" cy="288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4680000"/>
            <a:ext cx="936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E8DC"/>
                </a:solidFill>
                <a:latin typeface="Arial"/>
              </a:rPr>
              <a:t>Preparado para la Agencia Nacional de Seguridad Vial (ANSV)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E8DC"/>
                </a:solidFill>
                <a:latin typeface="Arial"/>
              </a:rPr>
              <a:t>Jeisson Marin Uribe Luis · Data Analyst ·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¿Por qué los siniestros viales son una prioridad de política pública?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24000"/>
            <a:ext cx="594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C1440E"/>
                </a:solidFill>
                <a:latin typeface="Arial"/>
              </a:rPr>
              <a:t>26 siniestros con víctimas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C1440E"/>
                </a:solidFill>
                <a:latin typeface="Arial"/>
              </a:rPr>
              <a:t>por día en la Ciudad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592000"/>
            <a:ext cx="558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Arial"/>
              </a:rPr>
              <a:t>En siete años se registraron 65.818 siniestros, 75.193 víctimas y 703 personas fallecidas. Los recursos de prevención son limitados: no se puede hacer todo, en todos lados, todo el tiempo.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4392000"/>
            <a:ext cx="5580000" cy="216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4572000"/>
            <a:ext cx="558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B2B2B"/>
                </a:solidFill>
                <a:latin typeface="Arial"/>
              </a:rPr>
              <a:t>La pregunta que responde este análisis:</a:t>
            </a:r>
          </a:p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B2B2B"/>
                </a:solidFill>
                <a:latin typeface="Arial"/>
              </a:rPr>
              <a:t>¿dónde, cuándo y sobre quién conviene concentrar el esfuerzo?</a:t>
            </a:r>
          </a:p>
        </p:txBody>
      </p:sp>
      <p:pic>
        <p:nvPicPr>
          <p:cNvPr id="9" name="Picture 8" descr="g10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00" y="1655999"/>
            <a:ext cx="5112000" cy="21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2000" y="4896000"/>
            <a:ext cx="5112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Arial"/>
              </a:rPr>
              <a:t>Serie mensual de siniestros. La caída de 2020 corresponde a las restricciones de circulación.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2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Buenos Aires Data — Secretaría de Transporte y Obras Públicas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24000"/>
            <a:ext cx="2592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50000"/>
            <a:ext cx="259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C1440E"/>
                </a:solidFill>
                <a:latin typeface="Arial"/>
              </a:rPr>
              <a:t>65.818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961999"/>
            <a:ext cx="25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siniestros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1999" y="1224000"/>
            <a:ext cx="2592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1999" y="1350000"/>
            <a:ext cx="259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C1440E"/>
                </a:solidFill>
                <a:latin typeface="Arial"/>
              </a:rPr>
              <a:t>75.193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1999" y="1961999"/>
            <a:ext cx="25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víctimas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1224000"/>
            <a:ext cx="2592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2000" y="1350000"/>
            <a:ext cx="259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C1440E"/>
                </a:solidFill>
                <a:latin typeface="Arial"/>
              </a:rPr>
              <a:t>703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2000" y="1961999"/>
            <a:ext cx="25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víctimas mortales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2000" y="1224000"/>
            <a:ext cx="2592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2000" y="1350000"/>
            <a:ext cx="2592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1440E"/>
                </a:solidFill>
                <a:latin typeface="Arial"/>
              </a:rPr>
              <a:t>2019–2025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2000" y="1961999"/>
            <a:ext cx="2592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período analizado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790000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000" y="2736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20 variables analizadas: fecha, hora, comuna, tipo de vía, modo de desplazamiento, contraparte y gravedad.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" y="2995200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Unidad de análisis: un registro por siniestro con víctimas.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617999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000" y="3563999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100 % de los registros conservados tras la limpieza.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000" y="3823199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3.276 totales de víctimas recalculados, 11.217 comunas unificadas, 0 filas eliminadas.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446000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000" y="4392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Alcance: estadística descriptiva. No se analizan causas ni se construyen modelos predictivos.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" y="4651200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Los faltantes se tratan como categoría “No informado”, no se imputan.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3 /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¿Cuándo ocurren los siniestros?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Volumen y gravedad ocurren en momentos distintos</a:t>
            </a:r>
          </a:p>
        </p:txBody>
      </p:sp>
      <p:pic>
        <p:nvPicPr>
          <p:cNvPr id="5" name="Picture 4" descr="g3_fran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52000"/>
            <a:ext cx="6840000" cy="3354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536000"/>
            <a:ext cx="68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Arial"/>
              </a:rPr>
              <a:t>Siniestros por franja horaria (barras) y letalidad (línea).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224000"/>
            <a:ext cx="3888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6000" y="1350000"/>
            <a:ext cx="388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1440E"/>
                </a:solidFill>
                <a:latin typeface="Arial"/>
              </a:rPr>
              <a:t>40,2 %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6000" y="1961999"/>
            <a:ext cx="388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de los siniestros ocurren en la tarde (12-17 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2520000"/>
            <a:ext cx="3888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6000" y="2646000"/>
            <a:ext cx="3888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1440E"/>
                </a:solidFill>
                <a:latin typeface="Arial"/>
              </a:rPr>
              <a:t>26,3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6000" y="3258000"/>
            <a:ext cx="388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muertes cada 1.000 siniestros en la madrugada: 3,5 veces la tarde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5004000"/>
            <a:ext cx="111600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El momento de mayor volumen es el viernes por la tarde (4.672 siniestros, 7,1 % del total); el de mayor gravedad, la madrugada.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4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¿Qué usuarios y qué vías concentran las víctimas?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Moto, peatón y bicicleta: 62,4 % de los siniestros y 87,5 % de las muertes</a:t>
            </a:r>
          </a:p>
        </p:txBody>
      </p:sp>
      <p:pic>
        <p:nvPicPr>
          <p:cNvPr id="5" name="Picture 4" descr="g1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152000"/>
            <a:ext cx="5616000" cy="2994423"/>
          </a:xfrm>
          <a:prstGeom prst="rect">
            <a:avLst/>
          </a:prstGeom>
        </p:spPr>
      </p:pic>
      <p:pic>
        <p:nvPicPr>
          <p:cNvPr id="6" name="Picture 5" descr="g2_letalidad_mo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999" y="1152000"/>
            <a:ext cx="5508000" cy="27996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4086000"/>
            <a:ext cx="113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Arial"/>
              </a:rPr>
              <a:t>Izquierda: cantidad de siniestros por modo.   Derecha: letalidad (muertes cada 1.000 siniestros).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4590000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000" y="4536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La moto participa en el 37,3 % de los siniestros y aporta el 41,0 % de las muertes.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5130000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000" y="5076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El peatón tiene la letalidad más alta: 29,0 muertes cada 1.000 siniestros.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670000"/>
            <a:ext cx="57600" cy="32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000" y="5616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B2B2B"/>
                </a:solidFill>
                <a:latin typeface="Arial"/>
              </a:rPr>
              <a:t>Las avenidas concentran el 60,6 % de las muertes; las autopistas, la mayor letalidad: 68,2 cada 1.000.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5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¿Está mejorando la situación?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Empeora en frecuencia, mejora en gravedad</a:t>
            </a:r>
          </a:p>
        </p:txBody>
      </p:sp>
      <p:pic>
        <p:nvPicPr>
          <p:cNvPr id="5" name="Picture 4" descr="g4_ev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7020000" cy="32636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3999" y="1296000"/>
            <a:ext cx="3780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3999" y="1422000"/>
            <a:ext cx="37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1440E"/>
                </a:solidFill>
                <a:latin typeface="Arial"/>
              </a:rPr>
              <a:t>+15,7 %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3999" y="2034000"/>
            <a:ext cx="37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siniestros 2025 vs. 2019 (+50,3 % desde 2021)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3999" y="2664000"/>
            <a:ext cx="3780000" cy="10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3999" y="2790000"/>
            <a:ext cx="3780000" cy="57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1440E"/>
                </a:solidFill>
                <a:latin typeface="Arial"/>
              </a:rPr>
              <a:t>−12,5 %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3999" y="3401999"/>
            <a:ext cx="378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víctimas mortales 2025 vs.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3999" y="4176000"/>
            <a:ext cx="378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Arial"/>
              </a:rPr>
              <a:t>La letalidad general bajó de 10,2 a 7,7 muertes cada 1.000 siniestros.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4896000"/>
            <a:ext cx="7020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Arial"/>
              </a:rPr>
              <a:t>Hay más siniestros que nunca (11.752 en 2025), pero son menos graves. La tendencia lineal de siniestros es de +568 por año (R² = 0,42); en muertes no hay tendencia significativa (R² = 0,05).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6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Tres respuestas con evidencia estadística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368000"/>
            <a:ext cx="11340000" cy="129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368000"/>
            <a:ext cx="90000" cy="1296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493999"/>
            <a:ext cx="864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871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2000" y="1548000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B2B"/>
                </a:solidFill>
                <a:latin typeface="Arial"/>
              </a:rPr>
              <a:t>La tarde concentra el volumen; la madrugada, la gravedad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2088000"/>
            <a:ext cx="93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40,2 % de los siniestros entre las 12 y las 18 hs · 26,3 muertes cada 1.000 entre las 0 y las 6 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916000"/>
            <a:ext cx="11340000" cy="129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000" y="2916000"/>
            <a:ext cx="90000" cy="1296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3041999"/>
            <a:ext cx="864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871A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2000" y="3096000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B2B"/>
                </a:solidFill>
                <a:latin typeface="Arial"/>
              </a:rPr>
              <a:t>Los usuarios vulnerables explican casi 9 de cada 10 muertes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2000" y="3636000"/>
            <a:ext cx="93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Moto, peatón y bicicleta: 62,4 % de los siniestros y 87,5 % de las víctimas mortales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463999"/>
            <a:ext cx="11340000" cy="129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000" y="4463999"/>
            <a:ext cx="90000" cy="1296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4589999"/>
            <a:ext cx="864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8871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2000" y="4643999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2B2B2B"/>
                </a:solidFill>
                <a:latin typeface="Arial"/>
              </a:rPr>
              <a:t>Más siniestros, menos muertes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2000" y="5183999"/>
            <a:ext cx="93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+15,7 % de siniestros y −12,5 % de fallecidos entre 2019 y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7 /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27999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Recomendaciones para la ANSV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58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FFE0D0"/>
                </a:solidFill>
                <a:latin typeface="Arial"/>
              </a:rPr>
              <a:t>Tres acciones priorizadas por impacto sobre las víctimas mortales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368000"/>
            <a:ext cx="7380000" cy="104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368000"/>
            <a:ext cx="90000" cy="1044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493999"/>
            <a:ext cx="68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B2B"/>
                </a:solidFill>
                <a:latin typeface="Arial"/>
              </a:rPr>
              <a:t>Programa específico para el usuario de moto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890000"/>
            <a:ext cx="68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Fiscalización de velocidad y casco en avenidas, con foco nocturno y de madrugada. Atiende al 41,0 % de las muertes.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628000"/>
            <a:ext cx="7380000" cy="104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2628000"/>
            <a:ext cx="90000" cy="1044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754000"/>
            <a:ext cx="68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B2B"/>
                </a:solidFill>
                <a:latin typeface="Arial"/>
              </a:rPr>
              <a:t>Intervención de avenidas y autopistas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3150000"/>
            <a:ext cx="68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Control de velocidad, cruces peatonales protegidos y segregación de usuarios vulnerables donde la letalidad es 8,5 veces mayor.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888000"/>
            <a:ext cx="7380000" cy="104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" y="3888000"/>
            <a:ext cx="90000" cy="1044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0" y="4014000"/>
            <a:ext cx="684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2B2B"/>
                </a:solidFill>
                <a:latin typeface="Arial"/>
              </a:rPr>
              <a:t>Monitoreo mensual y mejora del dato en origen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4410000"/>
            <a:ext cx="68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B6B6B"/>
                </a:solidFill>
                <a:latin typeface="Arial"/>
              </a:rPr>
              <a:t>Tablero con estos indicadores y carga con listas cerradas: hoy el 16,6 % de los registros no informa el modo de desplazamiento.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3999" y="1368000"/>
            <a:ext cx="3708000" cy="374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2000" y="1728000"/>
            <a:ext cx="3131999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Si el objetivo es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salvar vidas,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el foco es la moto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en avenidas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y de madrugada.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2000" y="4176000"/>
            <a:ext cx="3131999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E0D0"/>
                </a:solidFill>
                <a:latin typeface="Arial"/>
              </a:rPr>
              <a:t>703 vidas en juego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E0D0"/>
                </a:solidFill>
                <a:latin typeface="Arial"/>
              </a:rPr>
              <a:t>en los últimos 7 años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5922000"/>
            <a:ext cx="90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Repositorio con el libro de análisis y las tablas: github.com/ujeisson-alt/analisis-siniestros-viales-caba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1200" y="6426000"/>
            <a:ext cx="864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8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426000"/>
            <a:ext cx="64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Siniestros viales CABA 2019-2025 · Jeisson Marin Uribe Luis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